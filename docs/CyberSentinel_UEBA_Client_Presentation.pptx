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240280"/>
            <a:ext cx="2194560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514600"/>
            <a:ext cx="9966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5000" b="1" i="0">
                <a:solidFill>
                  <a:srgbClr val="FFFFFF"/>
                </a:solidFill>
                <a:latin typeface="Arial"/>
              </a:rPr>
              <a:t>CyberSentinel UEBA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2400" b="0" i="0">
                <a:solidFill>
                  <a:srgbClr val="00D4FF"/>
                </a:solidFill>
                <a:latin typeface="Arial"/>
              </a:rPr>
              <a:t>User and Entity Behaviour Analytics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9FB2C4"/>
                </a:solidFill>
                <a:latin typeface="Arial"/>
              </a:rPr>
              <a:t>Detecting insider threat and account compromise by learning what normal looks like in your estate — and reporting what deviates from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80644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A8E"/>
                </a:solidFill>
                <a:latin typeface="Arial"/>
              </a:rPr>
              <a:t>Confidential  ·  Prepared for client evaluation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D4FF"/>
                </a:solidFill>
                <a:latin typeface="Arial"/>
              </a:rPr>
              <a:t>DETECTION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What it detects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37160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A8E"/>
                </a:solidFill>
                <a:latin typeface="Arial"/>
              </a:rPr>
              <a:t>CyberSentinel 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A8E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73351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2C4"/>
                </a:solidFill>
                <a:latin typeface="Arial"/>
              </a:rPr>
              <a:t>Four analytical layers — global outlier detection (Isolation Forest), per-entity behavioural baselines (autoencoders), campaign clustering (HDBSCAN) and similarity retrieval — fuse into one prioritised verdict.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50007"/>
            <a:ext cx="3375050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2551175"/>
            <a:ext cx="2899562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Compromised credentials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C4"/>
                </a:solidFill>
                <a:latin typeface="Arial"/>
              </a:rPr>
              <a:t>A valid session doing things the real account holder never does.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8322" y="2350007"/>
            <a:ext cx="3375050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6066" y="2551175"/>
            <a:ext cx="2899562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Insider misuse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C4"/>
                </a:solidFill>
                <a:latin typeface="Arial"/>
              </a:rPr>
              <a:t>Legitimate access used outside the entity's established pattern.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9404" y="2350007"/>
            <a:ext cx="3375050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7148" y="2551175"/>
            <a:ext cx="2899562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Behavioural drift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C4"/>
                </a:solidFill>
                <a:latin typeface="Arial"/>
              </a:rPr>
              <a:t>Gradual change that never crosses a fixed threshold on any single 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75403"/>
            <a:ext cx="3375050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4576571"/>
            <a:ext cx="2899562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Coordinated activity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C4"/>
                </a:solidFill>
                <a:latin typeface="Arial"/>
              </a:rPr>
              <a:t>Related anomalies across users and hosts, grouped into one campaign.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8322" y="4375403"/>
            <a:ext cx="3375050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6066" y="4576571"/>
            <a:ext cx="2899562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Estate-wide rare events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C4"/>
                </a:solidFill>
                <a:latin typeface="Arial"/>
              </a:rPr>
              <a:t>Activity unusual against the whole population, not just one account.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9404" y="4375403"/>
            <a:ext cx="3375050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7148" y="4576571"/>
            <a:ext cx="2899562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High-risk watched entities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C4"/>
                </a:solidFill>
                <a:latin typeface="Arial"/>
              </a:rPr>
              <a:t>Users, hosts or addresses your analysts have placed under scrutiny.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D4FF"/>
                </a:solidFill>
                <a:latin typeface="Arial"/>
              </a:rPr>
              <a:t>THE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Ten analyst workspaces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37160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A8E"/>
                </a:solidFill>
                <a:latin typeface="Arial"/>
              </a:rPr>
              <a:t>CyberSentinel 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A8E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73351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2C4"/>
                </a:solidFill>
                <a:latin typeface="Arial"/>
              </a:rPr>
              <a:t>Every capability in the product is reachable from one of these ten workspaces.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50007"/>
            <a:ext cx="1922617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2551175"/>
            <a:ext cx="1447129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Overview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2C4"/>
                </a:solidFill>
                <a:latin typeface="Arial"/>
              </a:rPr>
              <a:t>At-a-glance posture, risk and system health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5889" y="2350007"/>
            <a:ext cx="1922617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93633" y="2551175"/>
            <a:ext cx="1447129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Incidents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2C4"/>
                </a:solidFill>
                <a:latin typeface="Arial"/>
              </a:rPr>
              <a:t>Entity incidents, time-bounded for shift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4538" y="2350007"/>
            <a:ext cx="1922617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2282" y="2551175"/>
            <a:ext cx="1447129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Alert Feed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2C4"/>
                </a:solidFill>
                <a:latin typeface="Arial"/>
              </a:rPr>
              <a:t>Full alert stream with filtering and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3187" y="2350007"/>
            <a:ext cx="1922617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50931" y="2551175"/>
            <a:ext cx="1447129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User Risk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2C4"/>
                </a:solidFill>
                <a:latin typeface="Arial"/>
              </a:rPr>
              <a:t>Entities ranked by risk index, drillable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91836" y="2350007"/>
            <a:ext cx="1922617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9580" y="2551175"/>
            <a:ext cx="1447129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Campaigns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2C4"/>
                </a:solidFill>
                <a:latin typeface="Arial"/>
              </a:rPr>
              <a:t>Correlated anomaly clusters and their timeline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375403"/>
            <a:ext cx="1922617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" y="4576571"/>
            <a:ext cx="1447129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Endpoints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2C4"/>
                </a:solidFill>
                <a:latin typeface="Arial"/>
              </a:rPr>
              <a:t>Per-agent coverage, activity and detail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55889" y="4375403"/>
            <a:ext cx="1922617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93633" y="4576571"/>
            <a:ext cx="1447129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Threat Map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2C4"/>
                </a:solidFill>
                <a:latin typeface="Arial"/>
              </a:rPr>
              <a:t>Live geolocated external traffic, 3D and 2D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34538" y="4375403"/>
            <a:ext cx="1922617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72282" y="4576571"/>
            <a:ext cx="1447129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False Positives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2C4"/>
                </a:solidFill>
                <a:latin typeface="Arial"/>
              </a:rPr>
              <a:t>Marked alerts and auto-suppression patterns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3187" y="4375403"/>
            <a:ext cx="1922617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50931" y="4576571"/>
            <a:ext cx="1447129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Watch 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2C4"/>
                </a:solidFill>
                <a:latin typeface="Arial"/>
              </a:rPr>
              <a:t>Entities under elevated scrutiny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91836" y="4375403"/>
            <a:ext cx="1922617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29580" y="4576571"/>
            <a:ext cx="1447129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Reports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2C4"/>
                </a:solidFill>
                <a:latin typeface="Arial"/>
              </a:rPr>
              <a:t>Generate, customise, schedule and download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D4FF"/>
                </a:solidFill>
                <a:latin typeface="Arial"/>
              </a:rPr>
              <a:t>SEEING THE 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Analytics and visualisation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37160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A8E"/>
                </a:solidFill>
                <a:latin typeface="Arial"/>
              </a:rPr>
              <a:t>CyberSentinel 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A8E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2467279" cy="2007108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2075687"/>
            <a:ext cx="1991791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Overview dashboard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2C4"/>
                </a:solidFill>
                <a:latin typeface="Arial"/>
              </a:rPr>
              <a:t>Recent alerts, top risk users, top rule descriptions, endpoints, recommended actions and engine health on a single page.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0551" y="1874519"/>
            <a:ext cx="2467279" cy="2007108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8295" y="2075687"/>
            <a:ext cx="1991791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Behavioural Risk Meter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2C4"/>
                </a:solidFill>
                <a:latin typeface="Arial"/>
              </a:rPr>
              <a:t>A single gauge for current estate-wide behavioural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2" y="1874519"/>
            <a:ext cx="2467279" cy="2007108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6" y="2075687"/>
            <a:ext cx="1991791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Security Activity Pattern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2C4"/>
                </a:solidFill>
                <a:latin typeface="Arial"/>
              </a:rPr>
              <a:t>Radar view of activity shape across categories.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7173" y="1874519"/>
            <a:ext cx="2467279" cy="2007108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4917" y="2075687"/>
            <a:ext cx="1991791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Alert Timeline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2C4"/>
                </a:solidFill>
                <a:latin typeface="Arial"/>
              </a:rPr>
              <a:t>Volume over time, across any selected window.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37659"/>
            <a:ext cx="2467279" cy="2007108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" y="4338827"/>
            <a:ext cx="1991791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Alert Score Distribution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2C4"/>
                </a:solidFill>
                <a:latin typeface="Arial"/>
              </a:rPr>
              <a:t>Where alerts sit across the scoring range — the shape of your tuning.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00551" y="4137659"/>
            <a:ext cx="2467279" cy="2007108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38295" y="4338827"/>
            <a:ext cx="1991791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Hourly Alert Heatmap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2C4"/>
                </a:solidFill>
                <a:latin typeface="Arial"/>
              </a:rPr>
              <a:t>Activity by hour and day, exposing off-hours behaviour.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2" y="4137659"/>
            <a:ext cx="2467279" cy="2007108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6" y="4338827"/>
            <a:ext cx="1991791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MITRE ATT&amp;CK Coverage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2C4"/>
                </a:solidFill>
                <a:latin typeface="Arial"/>
              </a:rPr>
              <a:t>Which tactics your alerting is actually exercising.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7173" y="4137659"/>
            <a:ext cx="2467279" cy="2007108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4917" y="4338827"/>
            <a:ext cx="1991791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Live Threat Map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2C4"/>
                </a:solidFill>
                <a:latin typeface="Arial"/>
              </a:rPr>
              <a:t>Geolocated external-to-datacentre traffic as a 3D globe or 2D map, resolved entirely offline.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D4FF"/>
                </a:solidFill>
                <a:latin typeface="Arial"/>
              </a:rPr>
              <a:t>WORKING THE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Investigation and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37160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A8E"/>
                </a:solidFill>
                <a:latin typeface="Arial"/>
              </a:rPr>
              <a:t>CyberSentinel 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A8E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73351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2C4"/>
                </a:solidFill>
                <a:latin typeface="Arial"/>
              </a:rPr>
              <a:t>The alert feed streams live, so new alerts appear without a refresh.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50007"/>
            <a:ext cx="3375050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2551175"/>
            <a:ext cx="2899562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Filtering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C4"/>
                </a:solidFill>
                <a:latin typeface="Arial"/>
              </a:rPr>
              <a:t>Free text, MITRE ATT&amp;CK tactic, severity threshold and verdict, applied live to the feed.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8322" y="2350007"/>
            <a:ext cx="3375050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6066" y="2551175"/>
            <a:ext cx="2899562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Seven timeline windows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C4"/>
                </a:solidFill>
                <a:latin typeface="Arial"/>
              </a:rPr>
              <a:t>24 hours, 3, 7, 30, 60 and 90 days, or all retained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9404" y="2350007"/>
            <a:ext cx="3375050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7148" y="2551175"/>
            <a:ext cx="2899562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Evidence on every alert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C4"/>
                </a:solidFill>
                <a:latin typeface="Arial"/>
              </a:rPr>
              <a:t>Model scores against that entity's thresholds, anomaly reasons, its baseline, and similar past events.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75403"/>
            <a:ext cx="3375050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4576571"/>
            <a:ext cx="2899562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Entity and endpoint drill-down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C4"/>
                </a:solidFill>
                <a:latin typeface="Arial"/>
              </a:rPr>
              <a:t>From any alert into the full history of the user or host involved.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8322" y="4375403"/>
            <a:ext cx="3375050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6066" y="4576571"/>
            <a:ext cx="2899562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False-positive suppression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C4"/>
                </a:solidFill>
                <a:latin typeface="Arial"/>
              </a:rPr>
              <a:t>Mark one alert, or derive a pattern that filters matching future alerts — effective on the next event, no restart.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9404" y="4375403"/>
            <a:ext cx="3375050" cy="1769364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7148" y="4576571"/>
            <a:ext cx="2899562" cy="1367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Watch lists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C4"/>
                </a:solidFill>
                <a:latin typeface="Arial"/>
              </a:rPr>
              <a:t>Elevate scrutiny on named users, hosts or IPs. Score contribution is always recorded and visible.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D4FF"/>
                </a:solidFill>
                <a:latin typeface="Arial"/>
              </a:rPr>
              <a:t>EVIDENCE AND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Reporting, export and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37160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A8E"/>
                </a:solidFill>
                <a:latin typeface="Arial"/>
              </a:rPr>
              <a:t>CyberSentinel 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A8E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375050" cy="2007108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2075687"/>
            <a:ext cx="2899562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Four built-in reports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C4"/>
                </a:solidFill>
                <a:latin typeface="Arial"/>
              </a:rPr>
              <a:t>Analyst investigation, administration and management, audit and compliance, and a threat report for any period.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8322" y="1874519"/>
            <a:ext cx="3375050" cy="2007108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075687"/>
            <a:ext cx="2899562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Custom reports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C4"/>
                </a:solidFill>
                <a:latin typeface="Arial"/>
              </a:rPr>
              <a:t>Composed from the same catalogue of 20 sections the built-in reports are assembled from.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9404" y="1874519"/>
            <a:ext cx="3375050" cy="2007108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7148" y="2075687"/>
            <a:ext cx="2899562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Scheduled and delivered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C4"/>
                </a:solidFill>
                <a:latin typeface="Arial"/>
              </a:rPr>
              <a:t>Hourly, daily, weekly or monthly — downloaded from the console or emailed with the report attached.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137659"/>
            <a:ext cx="3375050" cy="2007108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" y="4338827"/>
            <a:ext cx="2899562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Six export formats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C4"/>
                </a:solidFill>
                <a:latin typeface="Arial"/>
              </a:rPr>
              <a:t>PDF, Excel, CSV, HTML, JSON and XML — from a report, or straight from the filtered alert feed.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8322" y="4137659"/>
            <a:ext cx="3375050" cy="2007108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6066" y="4338827"/>
            <a:ext cx="2899562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Single sign-on and roles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C4"/>
                </a:solidFill>
                <a:latin typeface="Arial"/>
              </a:rPr>
              <a:t>Signed assertions from your identity provider, with viewer, analyst and administrator roles.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9404" y="4137659"/>
            <a:ext cx="3375050" cy="2007108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7148" y="4338827"/>
            <a:ext cx="2899562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0D4FF"/>
                </a:solidFill>
                <a:latin typeface="Arial"/>
              </a:rPr>
              <a:t>Audit trail and sovereignty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C4"/>
                </a:solidFill>
                <a:latin typeface="Arial"/>
              </a:rPr>
              <a:t>Every state-changing action recorded, including rejected attempts. No outbound connection to any third party.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D4FF"/>
                </a:solidFill>
                <a:latin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Running at operational scale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37160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A8E"/>
                </a:solidFill>
                <a:latin typeface="Arial"/>
              </a:rPr>
              <a:t>CyberSentinel 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A8E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73351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2C4"/>
                </a:solidFill>
                <a:latin typeface="Arial"/>
              </a:rPr>
              <a:t>Measurements from the running deployment, not projections.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50007"/>
            <a:ext cx="2480995" cy="1417320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587751"/>
            <a:ext cx="207865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00D4FF"/>
                </a:solidFill>
                <a:latin typeface="Arial"/>
              </a:rPr>
              <a:t>208/sec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2C4"/>
                </a:solidFill>
                <a:latin typeface="Arial"/>
              </a:rPr>
              <a:t>Events ingested and scored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5979" y="2350007"/>
            <a:ext cx="2480995" cy="1417320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7147" y="2587751"/>
            <a:ext cx="207865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00D4FF"/>
                </a:solidFill>
                <a:latin typeface="Arial"/>
              </a:rPr>
              <a:t>1,566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2C4"/>
                </a:solidFill>
                <a:latin typeface="Arial"/>
              </a:rPr>
              <a:t>Entities with maintained baselines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4718" y="2350007"/>
            <a:ext cx="2480995" cy="1417320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5886" y="2587751"/>
            <a:ext cx="207865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00D4FF"/>
                </a:solidFill>
                <a:latin typeface="Arial"/>
              </a:rPr>
              <a:t>556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2C4"/>
                </a:solidFill>
                <a:latin typeface="Arial"/>
              </a:rPr>
              <a:t>Dedicated per-entity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457" y="2350007"/>
            <a:ext cx="2480995" cy="1417320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34625" y="2587751"/>
            <a:ext cx="207865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00D4FF"/>
                </a:solidFill>
                <a:latin typeface="Arial"/>
              </a:rPr>
              <a:t>5.6M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2C4"/>
                </a:solidFill>
                <a:latin typeface="Arial"/>
              </a:rPr>
              <a:t>Anomaly vectors indexed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05071"/>
            <a:ext cx="2480995" cy="1417320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242815"/>
            <a:ext cx="207865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00D4FF"/>
                </a:solidFill>
                <a:latin typeface="Arial"/>
              </a:rPr>
              <a:t>70,542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2C4"/>
                </a:solidFill>
                <a:latin typeface="Arial"/>
              </a:rPr>
              <a:t>Alerts across a seven-day window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5979" y="4005071"/>
            <a:ext cx="2480995" cy="1417320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97147" y="4242815"/>
            <a:ext cx="207865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00D4FF"/>
                </a:solidFill>
                <a:latin typeface="Arial"/>
              </a:rPr>
              <a:t>79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2C4"/>
                </a:solidFill>
                <a:latin typeface="Arial"/>
              </a:rPr>
              <a:t>Correlated campaigns identified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4718" y="4005071"/>
            <a:ext cx="2480995" cy="1417320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5886" y="4242815"/>
            <a:ext cx="207865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00D4FF"/>
                </a:solidFill>
                <a:latin typeface="Arial"/>
              </a:rPr>
              <a:t>38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2C4"/>
                </a:solidFill>
                <a:latin typeface="Arial"/>
              </a:rPr>
              <a:t>Monitored endpoints reporting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33457" y="4005071"/>
            <a:ext cx="2480995" cy="1417320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625" y="4242815"/>
            <a:ext cx="207865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00D4FF"/>
                </a:solidFill>
                <a:latin typeface="Arial"/>
              </a:rPr>
              <a:t>~0.7s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2C4"/>
                </a:solidFill>
                <a:latin typeface="Arial"/>
              </a:rPr>
              <a:t>Console load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9788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47A8E"/>
                </a:solidFill>
                <a:latin typeface="Arial"/>
              </a:rPr>
              <a:t>Measured 23 September 2026. Alert volumes depend on estate size, tuning maturity and threshold configuration, and will differ between installations. We would welcome a proof of value against your own event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